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/>
          <p:nvPr>
            <p:ph type="title"/>
          </p:nvPr>
        </p:nvSpPr>
        <p:spPr>
          <a:xfrm>
            <a:off x="831959" y="1709640"/>
            <a:ext cx="10514881" cy="285192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1" name="Уровень текста 1…"/>
          <p:cNvSpPr txBox="1"/>
          <p:nvPr>
            <p:ph type="body" sz="quarter" idx="1"/>
          </p:nvPr>
        </p:nvSpPr>
        <p:spPr>
          <a:xfrm>
            <a:off x="831959" y="4589640"/>
            <a:ext cx="10514881" cy="14994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lnSpc>
                <a:spcPct val="80001"/>
              </a:lnSpc>
              <a:defRPr sz="2400"/>
            </a:lvl1pPr>
            <a:lvl2pPr>
              <a:lnSpc>
                <a:spcPct val="80001"/>
              </a:lnSpc>
              <a:defRPr sz="2400"/>
            </a:lvl2pPr>
            <a:lvl3pPr>
              <a:lnSpc>
                <a:spcPct val="80001"/>
              </a:lnSpc>
              <a:defRPr sz="2400"/>
            </a:lvl3pPr>
            <a:lvl4pPr>
              <a:lnSpc>
                <a:spcPct val="80001"/>
              </a:lnSpc>
              <a:defRPr sz="2400"/>
            </a:lvl4pPr>
            <a:lvl5pPr marL="2159999" indent="-215999">
              <a:lnSpc>
                <a:spcPct val="80001"/>
              </a:lnSpc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0" name="Уровень текста 1…"/>
          <p:cNvSpPr txBox="1"/>
          <p:nvPr>
            <p:ph type="body" sz="half" idx="1"/>
          </p:nvPr>
        </p:nvSpPr>
        <p:spPr>
          <a:xfrm>
            <a:off x="838080" y="1825560"/>
            <a:ext cx="5180761" cy="435060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lnSpc>
                <a:spcPct val="80001"/>
              </a:lnSpc>
              <a:defRPr sz="2800"/>
            </a:lvl1pPr>
            <a:lvl2pPr>
              <a:lnSpc>
                <a:spcPct val="80001"/>
              </a:lnSpc>
              <a:defRPr sz="2800"/>
            </a:lvl2pPr>
            <a:lvl3pPr>
              <a:lnSpc>
                <a:spcPct val="80001"/>
              </a:lnSpc>
              <a:defRPr sz="2800"/>
            </a:lvl3pPr>
            <a:lvl4pPr>
              <a:lnSpc>
                <a:spcPct val="80001"/>
              </a:lnSpc>
              <a:defRPr sz="2800"/>
            </a:lvl4pPr>
            <a:lvl5pPr marL="2159999" indent="-215999">
              <a:lnSpc>
                <a:spcPct val="80001"/>
              </a:lnSpc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PlaceHolder 3"/>
          <p:cNvSpPr/>
          <p:nvPr>
            <p:ph type="body" sz="half" idx="21"/>
          </p:nvPr>
        </p:nvSpPr>
        <p:spPr>
          <a:xfrm>
            <a:off x="6172200" y="1825560"/>
            <a:ext cx="5180761" cy="4350601"/>
          </a:xfrm>
          <a:prstGeom prst="rect">
            <a:avLst/>
          </a:prstGeom>
        </p:spPr>
        <p:txBody>
          <a:bodyPr lIns="45719" tIns="45719" rIns="45719" bIns="45719"/>
          <a:lstStyle/>
          <a:p>
            <a:pPr>
              <a:lnSpc>
                <a:spcPct val="80001"/>
              </a:lnSpc>
              <a:defRPr sz="2100"/>
            </a:pPr>
          </a:p>
        </p:txBody>
      </p:sp>
      <p:sp>
        <p:nvSpPr>
          <p:cNvPr id="3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839878" y="365040"/>
            <a:ext cx="10514881" cy="13248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0" name="Уровень текста 1…"/>
          <p:cNvSpPr txBox="1"/>
          <p:nvPr>
            <p:ph type="body" sz="quarter" idx="1"/>
          </p:nvPr>
        </p:nvSpPr>
        <p:spPr>
          <a:xfrm>
            <a:off x="839878" y="1681200"/>
            <a:ext cx="5157001" cy="823321"/>
          </a:xfrm>
          <a:prstGeom prst="rect">
            <a:avLst/>
          </a:prstGeom>
        </p:spPr>
        <p:txBody>
          <a:bodyPr lIns="45719" tIns="45719" rIns="45719" bIns="45719" anchor="b"/>
          <a:lstStyle>
            <a:lvl1pPr>
              <a:lnSpc>
                <a:spcPct val="80001"/>
              </a:lnSpc>
              <a:defRPr sz="2400"/>
            </a:lvl1pPr>
            <a:lvl2pPr>
              <a:lnSpc>
                <a:spcPct val="80001"/>
              </a:lnSpc>
              <a:defRPr sz="2400"/>
            </a:lvl2pPr>
            <a:lvl3pPr>
              <a:lnSpc>
                <a:spcPct val="80001"/>
              </a:lnSpc>
              <a:defRPr sz="2400"/>
            </a:lvl3pPr>
            <a:lvl4pPr>
              <a:lnSpc>
                <a:spcPct val="80001"/>
              </a:lnSpc>
              <a:defRPr sz="2400"/>
            </a:lvl4pPr>
            <a:lvl5pPr marL="2159999" indent="-215999">
              <a:lnSpc>
                <a:spcPct val="80001"/>
              </a:lnSpc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PlaceHolder 3"/>
          <p:cNvSpPr/>
          <p:nvPr/>
        </p:nvSpPr>
        <p:spPr>
          <a:xfrm>
            <a:off x="839878" y="2505239"/>
            <a:ext cx="5157001" cy="368388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1900"/>
            </a:pPr>
          </a:p>
        </p:txBody>
      </p:sp>
      <p:sp>
        <p:nvSpPr>
          <p:cNvPr id="42" name="PlaceHolder 4"/>
          <p:cNvSpPr/>
          <p:nvPr/>
        </p:nvSpPr>
        <p:spPr>
          <a:xfrm>
            <a:off x="6172200" y="1681200"/>
            <a:ext cx="5182561" cy="823321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 fontScale="100000" lnSpcReduction="0"/>
          </a:bodyPr>
          <a:lstStyle/>
          <a:p>
            <a:pPr marL="431999" indent="-323999">
              <a:lnSpc>
                <a:spcPct val="80001"/>
              </a:lnSpc>
              <a:spcBef>
                <a:spcPts val="1400"/>
              </a:spcBef>
              <a:buClr>
                <a:srgbClr val="000000"/>
              </a:buClr>
              <a:buSzPct val="45000"/>
              <a:buChar char="●"/>
              <a:defRPr sz="600"/>
            </a:pPr>
          </a:p>
        </p:txBody>
      </p:sp>
      <p:sp>
        <p:nvSpPr>
          <p:cNvPr id="43" name="PlaceHolder 5"/>
          <p:cNvSpPr/>
          <p:nvPr>
            <p:ph type="body" sz="half" idx="21"/>
          </p:nvPr>
        </p:nvSpPr>
        <p:spPr>
          <a:xfrm>
            <a:off x="6172200" y="2505239"/>
            <a:ext cx="5182561" cy="3683882"/>
          </a:xfrm>
          <a:prstGeom prst="rect">
            <a:avLst/>
          </a:prstGeom>
        </p:spPr>
        <p:txBody>
          <a:bodyPr lIns="45719" tIns="45719" rIns="45719" bIns="45719"/>
          <a:lstStyle/>
          <a:p>
            <a:pPr>
              <a:lnSpc>
                <a:spcPct val="80001"/>
              </a:lnSpc>
              <a:defRPr sz="1900"/>
            </a:pPr>
          </a:p>
        </p:txBody>
      </p:sp>
      <p:sp>
        <p:nvSpPr>
          <p:cNvPr id="4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Текст заголовка"/>
          <p:cNvSpPr txBox="1"/>
          <p:nvPr>
            <p:ph type="title"/>
          </p:nvPr>
        </p:nvSpPr>
        <p:spPr>
          <a:xfrm>
            <a:off x="839878" y="457200"/>
            <a:ext cx="3931561" cy="159948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52" name="Уровень текста 1…"/>
          <p:cNvSpPr txBox="1"/>
          <p:nvPr>
            <p:ph type="body" sz="half" idx="1"/>
          </p:nvPr>
        </p:nvSpPr>
        <p:spPr>
          <a:xfrm>
            <a:off x="5183280" y="987480"/>
            <a:ext cx="6171481" cy="487296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lnSpc>
                <a:spcPct val="80001"/>
              </a:lnSpc>
              <a:defRPr sz="3200"/>
            </a:lvl1pPr>
            <a:lvl2pPr>
              <a:lnSpc>
                <a:spcPct val="80001"/>
              </a:lnSpc>
              <a:defRPr sz="3200"/>
            </a:lvl2pPr>
            <a:lvl3pPr>
              <a:lnSpc>
                <a:spcPct val="80001"/>
              </a:lnSpc>
              <a:defRPr sz="3200"/>
            </a:lvl3pPr>
            <a:lvl4pPr>
              <a:lnSpc>
                <a:spcPct val="80001"/>
              </a:lnSpc>
              <a:defRPr sz="3200"/>
            </a:lvl4pPr>
            <a:lvl5pPr marL="2159999" indent="-215999">
              <a:lnSpc>
                <a:spcPct val="80001"/>
              </a:lnSpc>
              <a:defRPr sz="32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PlaceHolder 3"/>
          <p:cNvSpPr/>
          <p:nvPr>
            <p:ph type="body" sz="quarter" idx="21"/>
          </p:nvPr>
        </p:nvSpPr>
        <p:spPr>
          <a:xfrm>
            <a:off x="839878" y="2057400"/>
            <a:ext cx="3931561" cy="3810961"/>
          </a:xfrm>
          <a:prstGeom prst="rect">
            <a:avLst/>
          </a:prstGeom>
        </p:spPr>
        <p:txBody>
          <a:bodyPr lIns="45719" tIns="45719" rIns="45719" bIns="45719"/>
          <a:lstStyle/>
          <a:p>
            <a:pPr>
              <a:lnSpc>
                <a:spcPct val="90001"/>
              </a:lnSpc>
            </a:pPr>
          </a:p>
        </p:txBody>
      </p:sp>
      <p:sp>
        <p:nvSpPr>
          <p:cNvPr id="5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заголовка"/>
          <p:cNvSpPr txBox="1"/>
          <p:nvPr>
            <p:ph type="title"/>
          </p:nvPr>
        </p:nvSpPr>
        <p:spPr>
          <a:xfrm>
            <a:off x="839878" y="457200"/>
            <a:ext cx="3931561" cy="159948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62" name="Уровень текста 1…"/>
          <p:cNvSpPr txBox="1"/>
          <p:nvPr>
            <p:ph type="body" sz="half" idx="1"/>
          </p:nvPr>
        </p:nvSpPr>
        <p:spPr>
          <a:xfrm>
            <a:off x="5183280" y="987480"/>
            <a:ext cx="6171481" cy="4872960"/>
          </a:xfrm>
          <a:prstGeom prst="rect">
            <a:avLst/>
          </a:prstGeom>
        </p:spPr>
        <p:txBody>
          <a:bodyPr lIns="44999" tIns="44999" rIns="44999" bIns="44999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159999" indent="-215999">
              <a:defRPr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3" name="PlaceHolder 3"/>
          <p:cNvSpPr/>
          <p:nvPr>
            <p:ph type="body" sz="quarter" idx="21"/>
          </p:nvPr>
        </p:nvSpPr>
        <p:spPr>
          <a:xfrm>
            <a:off x="839878" y="2057400"/>
            <a:ext cx="3931561" cy="3810961"/>
          </a:xfrm>
          <a:prstGeom prst="rect">
            <a:avLst/>
          </a:prstGeom>
        </p:spPr>
        <p:txBody>
          <a:bodyPr lIns="45719" tIns="45719" rIns="45719" bIns="45719"/>
          <a:lstStyle/>
          <a:p>
            <a:pPr>
              <a:lnSpc>
                <a:spcPct val="90001"/>
              </a:lnSpc>
            </a:pP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72" name="Уровень текста 1…"/>
          <p:cNvSpPr txBox="1"/>
          <p:nvPr>
            <p:ph type="body" idx="1"/>
          </p:nvPr>
        </p:nvSpPr>
        <p:spPr>
          <a:xfrm rot="5400000">
            <a:off x="3920759" y="-1256040"/>
            <a:ext cx="4350601" cy="1051488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 marL="2159999" indent="-215999"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Текст заголовка"/>
          <p:cNvSpPr txBox="1"/>
          <p:nvPr>
            <p:ph type="title"/>
          </p:nvPr>
        </p:nvSpPr>
        <p:spPr>
          <a:xfrm rot="5400000">
            <a:off x="7133759" y="1956240"/>
            <a:ext cx="5811122" cy="26283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1" name="Уровень текста 1…"/>
          <p:cNvSpPr txBox="1"/>
          <p:nvPr>
            <p:ph type="body" idx="1"/>
          </p:nvPr>
        </p:nvSpPr>
        <p:spPr>
          <a:xfrm rot="5400000">
            <a:off x="1800360" y="-596160"/>
            <a:ext cx="5811121" cy="7733521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 marL="2159999" indent="-215999"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838080" y="365040"/>
            <a:ext cx="10514880" cy="132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09479" y="1604519"/>
            <a:ext cx="10972081" cy="3976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094336" y="6414527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90001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31999" marR="0" indent="-323999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863999" marR="0" indent="-323999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95999" marR="0" indent="-2880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27999" marR="0" indent="-215999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75000"/>
        <a:buFontTx/>
        <a:buChar char="−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95200" marR="0" indent="-1512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27200" marR="0" indent="-1512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59199" marR="0" indent="-1512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378200" marR="0" indent="-1778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835400" marR="0" indent="-17780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73;p2" descr="Google Shape;73;p2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Google Shape;74;p2" descr="Google Shape;74;p2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Google Shape;75;p2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Shortlist кандидатов</a:t>
            </a:r>
          </a:p>
        </p:txBody>
      </p:sp>
      <p:sp>
        <p:nvSpPr>
          <p:cNvPr id="94" name="Google Shape;76;p2"/>
          <p:cNvSpPr txBox="1"/>
          <p:nvPr/>
        </p:nvSpPr>
        <p:spPr>
          <a:xfrm>
            <a:off x="527399" y="1364039"/>
            <a:ext cx="10943282" cy="63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b="1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Придумайте 3-5 вариантов задач, которые могли бы стать вашим финальным проектом на курсе</a:t>
            </a:r>
          </a:p>
        </p:txBody>
      </p:sp>
      <p:sp>
        <p:nvSpPr>
          <p:cNvPr id="95" name="Google Shape;77;p2"/>
          <p:cNvSpPr/>
          <p:nvPr/>
        </p:nvSpPr>
        <p:spPr>
          <a:xfrm>
            <a:off x="-1" y="3450239"/>
            <a:ext cx="12328922" cy="723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Google Shape;78;p2"/>
          <p:cNvSpPr/>
          <p:nvPr/>
        </p:nvSpPr>
        <p:spPr>
          <a:xfrm>
            <a:off x="-1" y="416303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Google Shape;79;p2"/>
          <p:cNvSpPr/>
          <p:nvPr/>
        </p:nvSpPr>
        <p:spPr>
          <a:xfrm>
            <a:off x="-1" y="487583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Google Shape;80;p2"/>
          <p:cNvSpPr txBox="1"/>
          <p:nvPr/>
        </p:nvSpPr>
        <p:spPr>
          <a:xfrm>
            <a:off x="522359" y="2203200"/>
            <a:ext cx="2007722" cy="28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1400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Название проекта</a:t>
            </a:r>
          </a:p>
        </p:txBody>
      </p:sp>
      <p:sp>
        <p:nvSpPr>
          <p:cNvPr id="99" name="Google Shape;81;p2"/>
          <p:cNvSpPr txBox="1"/>
          <p:nvPr/>
        </p:nvSpPr>
        <p:spPr>
          <a:xfrm>
            <a:off x="4216679" y="2203200"/>
            <a:ext cx="2702161" cy="28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1400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Какую бизнес-задачу решаем?</a:t>
            </a:r>
          </a:p>
        </p:txBody>
      </p:sp>
      <p:sp>
        <p:nvSpPr>
          <p:cNvPr id="100" name="Google Shape;82;p2"/>
          <p:cNvSpPr txBox="1"/>
          <p:nvPr/>
        </p:nvSpPr>
        <p:spPr>
          <a:xfrm>
            <a:off x="8605080" y="2203200"/>
            <a:ext cx="3360240" cy="64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1400">
                <a:latin typeface="Play"/>
                <a:ea typeface="Play"/>
                <a:cs typeface="Play"/>
                <a:sym typeface="Play"/>
              </a:defRPr>
            </a:pPr>
            <a:r>
              <a:t>Краткое описание </a:t>
            </a:r>
            <a:br/>
            <a:r>
              <a:rPr b="1" sz="1200"/>
              <a:t>(по возможности укажите какие AI модели планируете использовать)</a:t>
            </a:r>
          </a:p>
        </p:txBody>
      </p:sp>
      <p:sp>
        <p:nvSpPr>
          <p:cNvPr id="101" name="Google Shape;83;p2"/>
          <p:cNvSpPr/>
          <p:nvPr/>
        </p:nvSpPr>
        <p:spPr>
          <a:xfrm>
            <a:off x="87839" y="558827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Google Shape;84;p2"/>
          <p:cNvSpPr/>
          <p:nvPr/>
        </p:nvSpPr>
        <p:spPr>
          <a:xfrm flipV="1">
            <a:off x="3345479" y="2670840"/>
            <a:ext cx="721" cy="3852720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Google Shape;85;p2"/>
          <p:cNvSpPr/>
          <p:nvPr/>
        </p:nvSpPr>
        <p:spPr>
          <a:xfrm flipV="1">
            <a:off x="7704000" y="2670840"/>
            <a:ext cx="721" cy="3852720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pic>
        <p:nvPicPr>
          <p:cNvPr id="104" name="Google Shape;86;p2" descr="Google Shape;86;p2"/>
          <p:cNvPicPr>
            <a:picLocks noChangeAspect="1"/>
          </p:cNvPicPr>
          <p:nvPr/>
        </p:nvPicPr>
        <p:blipFill>
          <a:blip r:embed="rId4">
            <a:extLst/>
          </a:blip>
          <a:srcRect l="10" t="0" r="7" b="0"/>
          <a:stretch>
            <a:fillRect/>
          </a:stretch>
        </p:blipFill>
        <p:spPr>
          <a:xfrm>
            <a:off x="1079" y="0"/>
            <a:ext cx="1218924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Google Shape;88;p2"/>
          <p:cNvSpPr txBox="1"/>
          <p:nvPr/>
        </p:nvSpPr>
        <p:spPr>
          <a:xfrm>
            <a:off x="635039" y="1992600"/>
            <a:ext cx="8900281" cy="2893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9999" tIns="89999" rIns="89999" bIns="89999">
            <a:spAutoFit/>
          </a:bodyPr>
          <a:lstStyle/>
          <a:p>
            <a:pPr>
              <a:lnSpc>
                <a:spcPct val="117999"/>
              </a:lnSpc>
              <a:defRPr b="1" sz="5400">
                <a:solidFill>
                  <a:srgbClr val="082326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06" name="Google Shape;89;p2"/>
          <p:cNvSpPr txBox="1"/>
          <p:nvPr/>
        </p:nvSpPr>
        <p:spPr>
          <a:xfrm>
            <a:off x="527400" y="5785559"/>
            <a:ext cx="6988578" cy="72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9999" tIns="89999" rIns="89999" bIns="89999">
            <a:spAutoFit/>
          </a:bodyPr>
          <a:lstStyle>
            <a:lvl1pPr>
              <a:lnSpc>
                <a:spcPct val="117999"/>
              </a:lnSpc>
              <a:defRPr sz="3600">
                <a:solidFill>
                  <a:srgbClr val="08232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Ромашев Андрей Романович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11" name="Google Shape;108;g2ec9d073a02_0_5"/>
          <p:cNvSpPr txBox="1"/>
          <p:nvPr/>
        </p:nvSpPr>
        <p:spPr>
          <a:xfrm>
            <a:off x="555621" y="2276872"/>
            <a:ext cx="10947962" cy="3498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 19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библиотека UI; хуки useOptimistic, useTransition, useRef, useMemo, useCallback, memo, createPortal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Redux Toolkit + RTK Query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глобальное состояние (корзина, пользователь, товары) и запросы к API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 Router v6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клиентский роутинг с createBrowserRouter, защита маршрутов через HOC WithProtection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react-hook-form + yup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управляемые формы с декларативной валидацией (логин, регистрация, создание товара, отзыв)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 Toastify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уведомления: success, error, warning, info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Material UI (MUI v5)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UI-компоненты для форм (TextField, LoadingButton)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Webpack 5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основная сборка с Babel, ts-loader, @svgr/webpack, CSS Modules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esbuild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альтернативная быстрая сборка (в ~25× быстрее Webpack)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TypeScript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строгая типизация всего проекта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CSS Modules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изолированные стили компонентов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Feature-Sliced Design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 — архитектура: shared/ui — презентационный слой, features/ — бизнес-логика</a:t>
            </a:r>
          </a:p>
        </p:txBody>
      </p:sp>
      <p:sp>
        <p:nvSpPr>
          <p:cNvPr id="112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Используемые технологии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17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Форма логина и регистрации</a:t>
            </a:r>
          </a:p>
        </p:txBody>
      </p:sp>
      <p:pic>
        <p:nvPicPr>
          <p:cNvPr id="118" name="Снимок экрана — 2026-04-19 в 20.56.44.png" descr="Снимок экрана — 2026-04-19 в 20.56.4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3045" y="2286267"/>
            <a:ext cx="4644832" cy="4102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Снимок экрана — 2026-04-19 в 20.57.34.png" descr="Снимок экрана — 2026-04-19 в 20.57.3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16421" y="2286267"/>
            <a:ext cx="5024065" cy="41020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24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Страница каталога товаров </a:t>
            </a:r>
          </a:p>
        </p:txBody>
      </p:sp>
      <p:pic>
        <p:nvPicPr>
          <p:cNvPr id="125" name="Снимок экрана — 2026-04-19 в 21.00.11.png" descr="Снимок экрана — 2026-04-19 в 21.00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48129" y="2158170"/>
            <a:ext cx="7496422" cy="3906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30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Вид страницы товаров после обращения к поиску</a:t>
            </a:r>
          </a:p>
        </p:txBody>
      </p:sp>
      <p:pic>
        <p:nvPicPr>
          <p:cNvPr id="131" name="Снимок экрана — 2026-04-19 в 21.01.22.png" descr="Снимок экрана — 2026-04-19 в 21.01.2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83290" y="2286267"/>
            <a:ext cx="8226100" cy="42796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36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Вид карточки товара</a:t>
            </a:r>
          </a:p>
        </p:txBody>
      </p:sp>
      <p:pic>
        <p:nvPicPr>
          <p:cNvPr id="137" name="Снимок экрана — 2026-04-19 в 21.36.27.png" descr="Снимок экрана — 2026-04-19 в 21.36.2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0229" y="2555345"/>
            <a:ext cx="1705821" cy="3325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Снимок экрана — 2026-04-19 в 21.36.54.png" descr="Снимок экрана — 2026-04-19 в 21.36.5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32828" y="2012211"/>
            <a:ext cx="5313225" cy="46248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43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Вид карточки «своего» товара</a:t>
            </a:r>
          </a:p>
        </p:txBody>
      </p:sp>
      <p:pic>
        <p:nvPicPr>
          <p:cNvPr id="144" name="Снимок экрана — 2026-04-19 в 21.30.01.png" descr="Снимок экрана — 2026-04-19 в 21.30.0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8834" y="2550782"/>
            <a:ext cx="2176964" cy="34166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Снимок экрана — 2026-04-19 в 21.31.24.png" descr="Снимок экрана — 2026-04-19 в 21.31.2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15624" y="2193253"/>
            <a:ext cx="4463409" cy="46327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50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Блок отзывов карточки товара</a:t>
            </a:r>
          </a:p>
        </p:txBody>
      </p:sp>
      <p:pic>
        <p:nvPicPr>
          <p:cNvPr id="151" name="Снимок экрана — 2026-04-19 в 21.32.23.png" descr="Снимок экрана — 2026-04-19 в 21.32.2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18003" y="2475696"/>
            <a:ext cx="8156674" cy="4221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56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Корзина с товарами</a:t>
            </a:r>
          </a:p>
        </p:txBody>
      </p:sp>
      <p:pic>
        <p:nvPicPr>
          <p:cNvPr id="157" name="Снимок экрана — 2026-04-19 в 21.34.03.png" descr="Снимок экрана — 2026-04-19 в 21.34.0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0695" y="2936117"/>
            <a:ext cx="12192001" cy="33648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62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Страница «Избранное»</a:t>
            </a:r>
          </a:p>
        </p:txBody>
      </p:sp>
      <p:pic>
        <p:nvPicPr>
          <p:cNvPr id="163" name="Снимок экрана — 2026-04-19 в 21.37.27.png" descr="Снимок экрана — 2026-04-19 в 21.37.2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98946" y="2286267"/>
            <a:ext cx="5794108" cy="43468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68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Личный кабинет пользователя</a:t>
            </a:r>
          </a:p>
        </p:txBody>
      </p:sp>
      <p:pic>
        <p:nvPicPr>
          <p:cNvPr id="169" name="Снимок экрана — 2026-04-19 в 21.34.59.png" descr="Снимок экрана — 2026-04-19 в 21.34.5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76237" y="2480000"/>
            <a:ext cx="8240205" cy="45188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74" name="Google Shape;108;g2ec9d073a02_0_5"/>
          <p:cNvSpPr txBox="1"/>
          <p:nvPr/>
        </p:nvSpPr>
        <p:spPr>
          <a:xfrm>
            <a:off x="520775" y="1627122"/>
            <a:ext cx="10947962" cy="46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Форма создания товара</a:t>
            </a:r>
          </a:p>
        </p:txBody>
      </p:sp>
      <p:pic>
        <p:nvPicPr>
          <p:cNvPr id="175" name="Снимок экрана — 2026-04-19 в 21.35.41.png" descr="Снимок экрана — 2026-04-19 в 21.35.4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40351" y="2286267"/>
            <a:ext cx="4911978" cy="4459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Разработка интернет-магазина </a:t>
            </a:r>
            <a:r>
              <a:t>DogFood</a:t>
            </a:r>
          </a:p>
        </p:txBody>
      </p:sp>
      <p:sp>
        <p:nvSpPr>
          <p:cNvPr id="180" name="Google Shape;108;g2ec9d073a02_0_5"/>
          <p:cNvSpPr txBox="1"/>
          <p:nvPr/>
        </p:nvSpPr>
        <p:spPr>
          <a:xfrm>
            <a:off x="520775" y="1627122"/>
            <a:ext cx="10947962" cy="85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2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 toastify – </a:t>
            </a:r>
            <a:r>
              <a:t>примеры уведомлений</a:t>
            </a:r>
          </a:p>
        </p:txBody>
      </p:sp>
      <p:pic>
        <p:nvPicPr>
          <p:cNvPr id="181" name="Снимок экрана — 2026-04-19 в 21.38.16.png" descr="Снимок экрана — 2026-04-19 в 21.38.1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2035" y="2679967"/>
            <a:ext cx="9428610" cy="39789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73;p2" descr="Google Shape;73;p2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Google Shape;74;p2" descr="Google Shape;74;p2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Google Shape;75;p2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Shortlist кандидатов</a:t>
            </a:r>
          </a:p>
        </p:txBody>
      </p:sp>
      <p:sp>
        <p:nvSpPr>
          <p:cNvPr id="186" name="Google Shape;76;p2"/>
          <p:cNvSpPr txBox="1"/>
          <p:nvPr/>
        </p:nvSpPr>
        <p:spPr>
          <a:xfrm>
            <a:off x="527399" y="1364039"/>
            <a:ext cx="10943282" cy="63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b="1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Придумайте 3-5 вариантов задач, которые могли бы стать вашим финальным проектом на курсе</a:t>
            </a:r>
          </a:p>
        </p:txBody>
      </p:sp>
      <p:sp>
        <p:nvSpPr>
          <p:cNvPr id="187" name="Google Shape;77;p2"/>
          <p:cNvSpPr/>
          <p:nvPr/>
        </p:nvSpPr>
        <p:spPr>
          <a:xfrm>
            <a:off x="-1" y="3450239"/>
            <a:ext cx="12328922" cy="723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Google Shape;78;p2"/>
          <p:cNvSpPr/>
          <p:nvPr/>
        </p:nvSpPr>
        <p:spPr>
          <a:xfrm>
            <a:off x="-1" y="416303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Google Shape;79;p2"/>
          <p:cNvSpPr/>
          <p:nvPr/>
        </p:nvSpPr>
        <p:spPr>
          <a:xfrm>
            <a:off x="-1" y="487583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Google Shape;80;p2"/>
          <p:cNvSpPr txBox="1"/>
          <p:nvPr/>
        </p:nvSpPr>
        <p:spPr>
          <a:xfrm>
            <a:off x="522359" y="2203200"/>
            <a:ext cx="2007722" cy="28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1400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Название проекта</a:t>
            </a:r>
          </a:p>
        </p:txBody>
      </p:sp>
      <p:sp>
        <p:nvSpPr>
          <p:cNvPr id="191" name="Google Shape;81;p2"/>
          <p:cNvSpPr txBox="1"/>
          <p:nvPr/>
        </p:nvSpPr>
        <p:spPr>
          <a:xfrm>
            <a:off x="4216679" y="2203200"/>
            <a:ext cx="2702161" cy="28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1400"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Какую бизнес-задачу решаем?</a:t>
            </a:r>
          </a:p>
        </p:txBody>
      </p:sp>
      <p:sp>
        <p:nvSpPr>
          <p:cNvPr id="192" name="Google Shape;82;p2"/>
          <p:cNvSpPr txBox="1"/>
          <p:nvPr/>
        </p:nvSpPr>
        <p:spPr>
          <a:xfrm>
            <a:off x="8605080" y="2203200"/>
            <a:ext cx="3360240" cy="64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defRPr sz="1400">
                <a:latin typeface="Play"/>
                <a:ea typeface="Play"/>
                <a:cs typeface="Play"/>
                <a:sym typeface="Play"/>
              </a:defRPr>
            </a:pPr>
            <a:r>
              <a:t>Краткое описание </a:t>
            </a:r>
            <a:br/>
            <a:r>
              <a:rPr b="1" sz="1200"/>
              <a:t>(по возможности укажите какие AI модели планируете использовать)</a:t>
            </a:r>
          </a:p>
        </p:txBody>
      </p:sp>
      <p:sp>
        <p:nvSpPr>
          <p:cNvPr id="193" name="Google Shape;83;p2"/>
          <p:cNvSpPr/>
          <p:nvPr/>
        </p:nvSpPr>
        <p:spPr>
          <a:xfrm>
            <a:off x="87839" y="5588278"/>
            <a:ext cx="12328922" cy="724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Google Shape;84;p2"/>
          <p:cNvSpPr/>
          <p:nvPr/>
        </p:nvSpPr>
        <p:spPr>
          <a:xfrm flipV="1">
            <a:off x="3345479" y="2670840"/>
            <a:ext cx="721" cy="3852720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Google Shape;85;p2"/>
          <p:cNvSpPr/>
          <p:nvPr/>
        </p:nvSpPr>
        <p:spPr>
          <a:xfrm flipV="1">
            <a:off x="7704000" y="2670840"/>
            <a:ext cx="721" cy="3852720"/>
          </a:xfrm>
          <a:prstGeom prst="line">
            <a:avLst/>
          </a:prstGeom>
          <a:ln w="12700">
            <a:solidFill>
              <a:srgbClr val="D0CECE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pic>
        <p:nvPicPr>
          <p:cNvPr id="196" name="Google Shape;86;p2" descr="Google Shape;86;p2"/>
          <p:cNvPicPr>
            <a:picLocks noChangeAspect="1"/>
          </p:cNvPicPr>
          <p:nvPr/>
        </p:nvPicPr>
        <p:blipFill>
          <a:blip r:embed="rId4">
            <a:extLst/>
          </a:blip>
          <a:srcRect l="10" t="0" r="7" b="0"/>
          <a:stretch>
            <a:fillRect/>
          </a:stretch>
        </p:blipFill>
        <p:spPr>
          <a:xfrm>
            <a:off x="1079" y="0"/>
            <a:ext cx="12189241" cy="6857280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Google Shape;88;p2"/>
          <p:cNvSpPr txBox="1"/>
          <p:nvPr/>
        </p:nvSpPr>
        <p:spPr>
          <a:xfrm>
            <a:off x="635039" y="1992600"/>
            <a:ext cx="8900281" cy="1919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9999" tIns="89999" rIns="89999" bIns="89999">
            <a:spAutoFit/>
          </a:bodyPr>
          <a:lstStyle>
            <a:lvl1pPr>
              <a:lnSpc>
                <a:spcPct val="117999"/>
              </a:lnSpc>
              <a:defRPr b="1" sz="5400">
                <a:solidFill>
                  <a:srgbClr val="08232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Выводы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Google Shape;108;g2ec9d073a02_0_5"/>
          <p:cNvSpPr txBox="1"/>
          <p:nvPr/>
        </p:nvSpPr>
        <p:spPr>
          <a:xfrm>
            <a:off x="522359" y="929878"/>
            <a:ext cx="10947962" cy="93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Выводы по итогу обучения по программе «Разработка на ReactJS: продвинутый уровень»</a:t>
            </a:r>
          </a:p>
        </p:txBody>
      </p:sp>
      <p:sp>
        <p:nvSpPr>
          <p:cNvPr id="202" name="Google Shape;108;g2ec9d073a02_0_5"/>
          <p:cNvSpPr txBox="1"/>
          <p:nvPr/>
        </p:nvSpPr>
        <p:spPr>
          <a:xfrm>
            <a:off x="522359" y="1772816"/>
            <a:ext cx="10947962" cy="3700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>
              <a:lnSpc>
                <a:spcPct val="110000"/>
              </a:lnSpc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Чему научился на программе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Разделять компоненты на презентационные и умные (container/feature pattern), применять архитектуру Feature-Sliced Design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Оптимизировать рендеры: React.memo, useCallback, useMemo — и понимать, когда они реально нужны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Использовать возможности React 19: useOptimistic + useTransition для немедленного отклика UI без мигания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Работать с createPortal и грамотно управлять фокусом (accessibility)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Настраивать RTK Query: теги инвалидации, оптимистичные обновления, кастомный baseQuery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Сравнивать и использовать разные сборщики: Webpack 5 vs esbuild (разница в скорости ~25×)</a:t>
            </a:r>
          </a:p>
          <a:p>
            <a:pPr>
              <a:lnSpc>
                <a:spcPct val="110000"/>
              </a:lnSpc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С какими сложностями столкнулся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Настройка peer-dependencies при обновлении React 18 → 19 (MUI, emotion требуют overrides в package.json)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SVG в esbuild: одновременная поддержка SVGR-импорта и data URL потребовала кастомного плагина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Настройка useOptimistic без мигания: источник истины — локальный useState, обновляемый внутри startTransition</a:t>
            </a:r>
          </a:p>
          <a:p>
            <a:pPr>
              <a:lnSpc>
                <a:spcPct val="110000"/>
              </a:lnSpc>
              <a:defRPr b="1" sz="1600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Что хотел бы изучить глубже и добавить в проект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React Server Components и Next.js — SSR/SSG для улучшения SEO и FCP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Тестирование: React Testing Library + Vitest, тесты на оптимистичные обновления</a:t>
            </a:r>
          </a:p>
          <a:p>
            <a:pPr marL="342900" indent="-342900">
              <a:lnSpc>
                <a:spcPct val="110000"/>
              </a:lnSpc>
              <a:buSzPct val="100000"/>
              <a:buFont typeface="Arial"/>
              <a:buChar char="•"/>
              <a:defRPr sz="1400">
                <a:solidFill>
                  <a:srgbClr val="08232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pPr>
            <a:r>
              <a:t>Улучшить модалку: focus trap (перехват Tab в диалоге), aria-live регионы для уведомлений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106;g2ec9d073a02_0_5" descr="Google Shape;106;g2ec9d073a02_0_5"/>
          <p:cNvPicPr>
            <a:picLocks noChangeAspect="1"/>
          </p:cNvPicPr>
          <p:nvPr/>
        </p:nvPicPr>
        <p:blipFill>
          <a:blip r:embed="rId2">
            <a:extLst/>
          </a:blip>
          <a:srcRect l="0" t="183" r="0" b="182"/>
          <a:stretch>
            <a:fillRect/>
          </a:stretch>
        </p:blipFill>
        <p:spPr>
          <a:xfrm>
            <a:off x="1079" y="-1"/>
            <a:ext cx="12189241" cy="783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Google Shape;107;g2ec9d073a02_0_5" descr="Google Shape;107;g2ec9d073a02_0_5"/>
          <p:cNvPicPr>
            <a:picLocks noChangeAspect="1"/>
          </p:cNvPicPr>
          <p:nvPr/>
        </p:nvPicPr>
        <p:blipFill>
          <a:blip r:embed="rId3">
            <a:extLst/>
          </a:blip>
          <a:srcRect l="0" t="1000" r="0" b="1000"/>
          <a:stretch>
            <a:fillRect/>
          </a:stretch>
        </p:blipFill>
        <p:spPr>
          <a:xfrm>
            <a:off x="9288360" y="272160"/>
            <a:ext cx="2519281" cy="22248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Google Shape;108;g2ec9d073a02_0_5"/>
          <p:cNvSpPr txBox="1"/>
          <p:nvPr/>
        </p:nvSpPr>
        <p:spPr>
          <a:xfrm>
            <a:off x="522359" y="929878"/>
            <a:ext cx="10947962" cy="50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80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Список используемых источников</a:t>
            </a:r>
          </a:p>
        </p:txBody>
      </p:sp>
      <p:sp>
        <p:nvSpPr>
          <p:cNvPr id="207" name="Google Shape;108;g2ec9d073a02_0_5"/>
          <p:cNvSpPr txBox="1"/>
          <p:nvPr/>
        </p:nvSpPr>
        <p:spPr>
          <a:xfrm>
            <a:off x="520775" y="1627122"/>
            <a:ext cx="10947962" cy="1804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/>
          <a:p>
            <a:pPr marL="457200" indent="-457200">
              <a:lnSpc>
                <a:spcPct val="130000"/>
              </a:lnSpc>
              <a:buSzPct val="100000"/>
              <a:buAutoNum type="arabicPeriod" startAt="1"/>
              <a:defRPr b="1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Официальная документация React 19 — 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https://react.dev/reference/react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457200" indent="-457200">
              <a:lnSpc>
                <a:spcPct val="130000"/>
              </a:lnSpc>
              <a:buSzPct val="100000"/>
              <a:buAutoNum type="arabicPeriod" startAt="1"/>
              <a:defRPr b="1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Redux Toolkit + RTK Query — 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https://redux-toolkit.js.org/rtk-query/overview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457200" indent="-457200">
              <a:lnSpc>
                <a:spcPct val="130000"/>
              </a:lnSpc>
              <a:buSzPct val="100000"/>
              <a:buAutoNum type="arabicPeriod" startAt="1"/>
              <a:defRPr b="1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 Router v6 — 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https://reactrouter.com/en/main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457200" indent="-457200">
              <a:lnSpc>
                <a:spcPct val="130000"/>
              </a:lnSpc>
              <a:buSzPct val="100000"/>
              <a:buAutoNum type="arabicPeriod" startAt="1"/>
              <a:defRPr b="1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react-hook-form </a:t>
            </a:r>
            <a:r>
              <a:t>— 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https://react-hook-form.com/</a:t>
            </a:r>
            <a:endParaRPr b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  <a:p>
            <a:pPr marL="457200" indent="-457200">
              <a:lnSpc>
                <a:spcPct val="130000"/>
              </a:lnSpc>
              <a:buSzPct val="100000"/>
              <a:buAutoNum type="arabicPeriod" startAt="1"/>
              <a:defRPr b="1">
                <a:solidFill>
                  <a:srgbClr val="08232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t>esbuild </a:t>
            </a:r>
            <a:r>
              <a:t>документация — </a:t>
            </a:r>
            <a:r>
              <a:rPr b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https://esbuild.github.io/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